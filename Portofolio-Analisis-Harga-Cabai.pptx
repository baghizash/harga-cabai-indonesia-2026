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47091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3700" b="1" i="0">
                <a:solidFill>
                  <a:srgbClr val="0B2A44"/>
                </a:solidFill>
                <a:latin typeface="Liberation Serif"/>
              </a:rPr>
              <a:t>ANALISIS HARGA CABAI INDONESIA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4709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 b="1" i="0">
                <a:solidFill>
                  <a:srgbClr val="0E4D7A"/>
                </a:solidFill>
                <a:latin typeface="Noto Sans"/>
              </a:rPr>
              <a:t>Lonjakan Oktober, Volatilitas, dan Disparitas Antar Provinsi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3584448"/>
            <a:ext cx="1463040" cy="45720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 b="0" i="0">
                <a:solidFill>
                  <a:srgbClr val="0B2A44"/>
                </a:solidFill>
                <a:latin typeface="Noto Sans"/>
              </a:rPr>
              <a:t>Data harian PIHPS / Bank Indonesia - 4 komoditas cabai, 34 provinsi, Januari 2025 sampai Oktober 2026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 b="0" i="0">
                <a:solidFill>
                  <a:srgbClr val="0B2A44"/>
                </a:solidFill>
                <a:latin typeface="Noto Sans"/>
              </a:rPr>
              <a:t>Plus: paket dashboard Power BI (star schema, DAX, panduan rakit)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8" y="5742432"/>
            <a:ext cx="4572000" cy="27432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925312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0B2A44"/>
                </a:solidFill>
                <a:latin typeface="Noto Sans"/>
              </a:rPr>
              <a:t>BAGHIZ ASSHIDDIQIE ARASYA</a:t>
            </a:r>
          </a:p>
        </p:txBody>
      </p:sp>
      <p:pic>
        <p:nvPicPr>
          <p:cNvPr id="9" name="Picture 8" descr="05_lonjakan_okto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640080"/>
            <a:ext cx="5806440" cy="266128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06440" y="3611880"/>
            <a:ext cx="5806440" cy="2395728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385876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F5C542"/>
                </a:solidFill>
                <a:latin typeface="Noto Sans"/>
              </a:rPr>
              <a:t>PUNCAK CABAI RAWIT MERAH - 20 OKTOBER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187952"/>
            <a:ext cx="521208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300" b="1">
                <a:solidFill>
                  <a:srgbClr val="F5C542"/>
                </a:solidFill>
                <a:latin typeface="Noto Sans"/>
              </a:rPr>
              <a:t>Rp105.450</a:t>
            </a:r>
            <a:r>
              <a:rPr sz="2000" b="1">
                <a:solidFill>
                  <a:srgbClr val="F5C542"/>
                </a:solidFill>
                <a:latin typeface="Noto Sans"/>
              </a:rPr>
              <a:t>/kg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440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Harga nasional tertinggi Cabai Rawit Merah sepanjang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Kenapa Cabai?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08792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50" b="0" i="0">
                <a:solidFill>
                  <a:srgbClr val="0B2A44"/>
                </a:solidFill>
                <a:latin typeface="Noto Sans"/>
              </a:rPr>
              <a:t>Cabai adalah komoditas pangan paling volatile di Indonesia: harganya bisa melonjak puluhan persen dalam hitungan hari dan langsung terasa di inflasi.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50" b="0" i="0">
                <a:solidFill>
                  <a:srgbClr val="0B2A44"/>
                </a:solidFill>
                <a:latin typeface="Noto Sans"/>
              </a:rPr>
              <a:t>Analisis ini memakai 4 komoditas PIHPS: Cabai Merah Besar, Cabai Merah Keriting, Cabai Rawit Hijau, dan Cabai Rawit Merah.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50" b="0" i="0">
                <a:solidFill>
                  <a:srgbClr val="0B2A44"/>
                </a:solidFill>
                <a:latin typeface="Noto Sans"/>
              </a:rPr>
              <a:t>Pertanyaan: bagaimana harga bergerak di 2026, cabai mana yang paling liar, di provinsi mana harganya paling mahal, dan seberapa besar lonjakan Oktober 2026?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50" b="0" i="0">
                <a:solidFill>
                  <a:srgbClr val="0B2A44"/>
                </a:solidFill>
                <a:latin typeface="Noto Sans"/>
              </a:rPr>
              <a:t>Jawaban dicari dari data harian resmi, bukan dari perkiraan.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12080"/>
            <a:ext cx="10908792" cy="914400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358384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700" b="1" i="0">
                <a:solidFill>
                  <a:srgbClr val="0B2A44"/>
                </a:solidFill>
                <a:latin typeface="Noto Sans"/>
              </a:rPr>
              <a:t>4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0B2A44"/>
                </a:solidFill>
                <a:latin typeface="Noto Sans"/>
              </a:rPr>
              <a:t>komoditas cabai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5358384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700" b="1" i="0">
                <a:solidFill>
                  <a:srgbClr val="0B2A44"/>
                </a:solidFill>
                <a:latin typeface="Noto Sans"/>
              </a:rPr>
              <a:t>34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0B2A44"/>
                </a:solidFill>
                <a:latin typeface="Noto Sans"/>
              </a:rPr>
              <a:t>provinsi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5358384"/>
            <a:ext cx="3474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700" b="1" i="0">
                <a:solidFill>
                  <a:srgbClr val="0B2A44"/>
                </a:solidFill>
                <a:latin typeface="Noto Sans"/>
              </a:rPr>
              <a:t>Jan 2025 - Okt 2026</a:t>
            </a:r>
          </a:p>
          <a:p>
            <a:pPr>
              <a:spcAft>
                <a:spcPts val="0"/>
              </a:spcAft>
            </a:pPr>
            <a:r>
              <a:rPr sz="1150" b="0" i="0">
                <a:solidFill>
                  <a:srgbClr val="0B2A44"/>
                </a:solidFill>
                <a:latin typeface="Noto Sans"/>
              </a:rPr>
              <a:t>periode data harian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91072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150" b="0" i="1">
                <a:solidFill>
                  <a:srgbClr val="0E4D7A"/>
                </a:solidFill>
                <a:latin typeface="Noto Sans"/>
              </a:rPr>
              <a:t>Sumber data: API publik PIHPS / Bank Indonesia (hargapangan.id), Pasar Tradisional.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Data dan Metode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6583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Data harian API PIHPS: 2025-01-01 sampai 2026-10-23, 1,892 baris nasional + 60,061 baris provinsi (58,874 dengan harga).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Setiap pertanyaan dijawab dengan query SQL (sql/queries.sql) dan divisualisasikan dalam 10 chart dari data yang sama.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Untuk Power BI, data disusun ulang menjadi star schema: 1 tabel fakta + 3 tabel dimensi, lengkap dengan measure DAX dan panduan merakit dashboard.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Catatan jujur: PIHPS tidak mempublikasikan seri provinsi untuk beberapa kombinasi provinsi x komoditas (9 kombinasi) - dicatat sebagai gap, tidak diisi angka lain.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543800" y="1371600"/>
            <a:ext cx="4005072" cy="4526280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691640"/>
            <a:ext cx="34290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2700" b="1" i="0">
                <a:solidFill>
                  <a:srgbClr val="F5C542"/>
                </a:solidFill>
                <a:latin typeface="Noto Sans"/>
              </a:rPr>
              <a:t>1,892</a:t>
            </a:r>
          </a:p>
          <a:p>
            <a:pPr>
              <a:spcAft>
                <a:spcPts val="15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baris nasional</a:t>
            </a:r>
          </a:p>
          <a:p>
            <a:pPr>
              <a:spcAft>
                <a:spcPts val="100"/>
              </a:spcAft>
            </a:pPr>
            <a:r>
              <a:rPr sz="2700" b="1" i="0">
                <a:solidFill>
                  <a:srgbClr val="F5C542"/>
                </a:solidFill>
                <a:latin typeface="Noto Sans"/>
              </a:rPr>
              <a:t>60,061</a:t>
            </a:r>
          </a:p>
          <a:p>
            <a:pPr>
              <a:spcAft>
                <a:spcPts val="15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baris provinsi</a:t>
            </a:r>
          </a:p>
          <a:p>
            <a:pPr>
              <a:spcAft>
                <a:spcPts val="100"/>
              </a:spcAft>
            </a:pPr>
            <a:r>
              <a:rPr sz="2700" b="1" i="0">
                <a:solidFill>
                  <a:srgbClr val="F5C542"/>
                </a:solidFill>
                <a:latin typeface="Noto Sans"/>
              </a:rPr>
              <a:t>58,874</a:t>
            </a:r>
          </a:p>
          <a:p>
            <a:pPr>
              <a:spcAft>
                <a:spcPts val="15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baris provinsi dengan harga</a:t>
            </a:r>
          </a:p>
          <a:p>
            <a:pPr>
              <a:spcAft>
                <a:spcPts val="100"/>
              </a:spcAft>
            </a:pPr>
            <a:r>
              <a:rPr sz="2700" b="1" i="0">
                <a:solidFill>
                  <a:srgbClr val="F5C542"/>
                </a:solidFill>
                <a:latin typeface="Noto Sans"/>
              </a:rPr>
              <a:t>9</a:t>
            </a:r>
          </a:p>
          <a:p>
            <a:pPr>
              <a:spcAft>
                <a:spcPts val="15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kombinasi provinsi x komoditas tanpa seri (gap)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Tren Nasional 2025-2026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8463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Rata-rata nasional 2026 tertinggi: Cabai Rawit Merah Rp75.219/kg, naik 14.3% dibanding 2025.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Cabai Merah Besar rata-rata Rp52.267/kg (-1.9% vs 2025); Keriting Rp54.072/kg (-2.8%); Rawit Hijau Rp57.124/kg (+11.8%).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Keempat komoditas bergerak searah pada lonjakan besar, tapi dengan amplitudo berbeda.</a:t>
            </a:r>
          </a:p>
        </p:txBody>
      </p:sp>
      <p:pic>
        <p:nvPicPr>
          <p:cNvPr id="5" name="Picture 4" descr="01_tren_nasional_4cab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63040"/>
            <a:ext cx="5989320" cy="27451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0" y="4480560"/>
            <a:ext cx="5989320" cy="960120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89320" y="4681728"/>
            <a:ext cx="5486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1" i="0">
                <a:solidFill>
                  <a:srgbClr val="0B2A44"/>
                </a:solidFill>
                <a:latin typeface="Noto Sans"/>
              </a:rPr>
              <a:t>Cabai Rawit Merah rata-rata Rp75.219/kg di 2026, naik 14.3% dibanding 2025.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Lonjakan Oktober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02920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Cabai Rawit Merah menembus Rp100.000/kg pada 2026-09-30 (Rp100.550/kg).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Dan menembus Rp105.000/kg pada 2026-10-12 (Rp105.300/kg).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Dari akhir September (Rp100.550/kg) ke puncak Oktober (Rp105.450/kg pada 2026-10-20), naik 4.9%.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Kenaikan terbesar terjadi pada September: rata-rata bulanan naik +39.3% dibanding Agustus, lalu Oktober naik lagi +11.6%.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Lonjakan ini yang membuat cabai menjadi berita utama pertengahan Oktober 2026.</a:t>
            </a:r>
          </a:p>
        </p:txBody>
      </p:sp>
      <p:pic>
        <p:nvPicPr>
          <p:cNvPr id="5" name="Picture 4" descr="05_lonjakan_okto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17320"/>
            <a:ext cx="5760720" cy="264033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0" y="4279392"/>
            <a:ext cx="5760720" cy="1755648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6208" y="4480560"/>
            <a:ext cx="52120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F5C542"/>
                </a:solidFill>
                <a:latin typeface="Noto Sans"/>
              </a:rPr>
              <a:t>Rp105.450</a:t>
            </a:r>
            <a:r>
              <a:rPr sz="1600" b="1">
                <a:solidFill>
                  <a:srgbClr val="F5C542"/>
                </a:solidFill>
                <a:latin typeface="Noto Sans"/>
              </a:rPr>
              <a:t>/kg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53492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50" b="0" i="0">
                <a:solidFill>
                  <a:srgbClr val="FFFFFF"/>
                </a:solidFill>
                <a:latin typeface="Noto Sans"/>
              </a:rPr>
              <a:t>Puncak 2026-10-20 - naik 4.9% dari akhir September (Rp100.550/kg).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Volatilitas: Cabai Mana yang Paling Liar?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volatili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5212080" cy="2606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4315968"/>
            <a:ext cx="5212080" cy="914400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4709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Noto Sans"/>
              </a:rPr>
              <a:t>Paling volatile: Cabai Merah Keriting - CV 21.7%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417320"/>
            <a:ext cx="539496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Cabai Merah Keriting paling volatile di 2026: koefisien variasi 21.7%, rentang Rp39.650/kg sampai Rp88.350/kg.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Yang paling stabil: Cabai Rawit Hijau (CV 13.5%).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Volatilitas tinggi berarti harga sulit diprediksi: pedagang dan konsumen sama-sama menanggung ketidakpastian.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Lonjakan harian terbesar 2026: Cabai Merah Keriting +20.4% pada 2026-05-25, Cabai Merah Besar +17.2% pada 2026-05-25.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Disparitas Antar Provinsi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2026, Cabai Rawit Merah termahal di Maluku Utara (rata-rata Rp114.198/kg), termurah di Sumatera Utara (Rp46.920/kg) - selisih Rp67.278/kg (143.4%).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DKI Jakarta Rp78.870/kg, +4.9% terhadap rata-rata nasional.</a:t>
            </a:r>
          </a:p>
          <a:p>
            <a:pPr marL="171450" indent="-171450">
              <a:lnSpc>
                <a:spcPct val="112000"/>
              </a:lnSpc>
              <a:spcAft>
                <a:spcPts val="1200"/>
              </a:spcAft>
              <a:buChar char="•"/>
            </a:pPr>
            <a:r>
              <a:rPr sz="1600" b="0" i="0">
                <a:solidFill>
                  <a:srgbClr val="0B2A44"/>
                </a:solidFill>
                <a:latin typeface="Noto Sans"/>
              </a:rPr>
              <a:t>Harga di provinsi timur dan kepulauan cenderung lebih mahal: biaya logistik dan rantai pasok yang lebih panjang.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754880"/>
            <a:ext cx="4937760" cy="914400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56048"/>
            <a:ext cx="4434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500" b="1" i="0">
                <a:solidFill>
                  <a:srgbClr val="0B2A44"/>
                </a:solidFill>
                <a:latin typeface="Noto Sans"/>
              </a:rPr>
              <a:t>Selisih termahal-termurah Rawit Merah: 143.4%</a:t>
            </a:r>
          </a:p>
        </p:txBody>
      </p:sp>
      <p:pic>
        <p:nvPicPr>
          <p:cNvPr id="7" name="Picture 6" descr="06_provinsi_termah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417320"/>
            <a:ext cx="5897880" cy="32438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Paket Dashboard Power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675120" cy="2240280"/>
          </a:xfrm>
          <a:prstGeom prst="rect">
            <a:avLst/>
          </a:prstGeom>
          <a:solidFill>
            <a:srgbClr val="0E4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612648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50" b="0" i="0">
                <a:solidFill>
                  <a:srgbClr val="FFFFFF"/>
                </a:solidFill>
                <a:latin typeface="Noto Sans"/>
              </a:rPr>
              <a:t>Star schema siap import: fact_harga_cabai + dim_komoditas + dim_wilayah + dim_tanggal.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371600"/>
            <a:ext cx="4005072" cy="2240280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27632"/>
            <a:ext cx="3456432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Layout 4 halaman: Overview, Per Komoditas, Per Wilayah, Volatilitas - lengkap dengan spesifikasi tiap visual.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94760"/>
            <a:ext cx="4005072" cy="2377440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50792"/>
            <a:ext cx="3456432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50" b="0" i="0">
                <a:solidFill>
                  <a:srgbClr val="FFFFFF"/>
                </a:solidFill>
                <a:latin typeface="Noto Sans"/>
              </a:rPr>
              <a:t>Panduan rakit langkah demi langkah untuk Power BI Desktop di Windows: import, relasi, mark date table, tempel DAX, bangun visual, publish.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73752" y="3794760"/>
            <a:ext cx="6675120" cy="2377440"/>
          </a:xfrm>
          <a:prstGeom prst="rect">
            <a:avLst/>
          </a:prstGeom>
          <a:solidFill>
            <a:srgbClr val="F7F4EE"/>
          </a:solidFill>
          <a:ln w="15875">
            <a:solidFill>
              <a:srgbClr val="0E4D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8072" y="4050792"/>
            <a:ext cx="61264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550" b="0" i="0">
                <a:solidFill>
                  <a:srgbClr val="0B2A44"/>
                </a:solidFill>
                <a:latin typeface="Noto Sans"/>
              </a:rPr>
              <a:t>15 measure DAX siap tempel: rata-rata, MoM %, YoY %, MA 7 hari, volatilitas (CV %), peringkat provinsi, selisih vs nasional.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087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100" b="1" i="0">
                <a:solidFill>
                  <a:srgbClr val="0B2A44"/>
                </a:solidFill>
                <a:latin typeface="Liberation Serif"/>
              </a:rPr>
              <a:t>Insight dan Rekomendasi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60704"/>
            <a:ext cx="2103120" cy="50292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82296" cy="4709160"/>
          </a:xfrm>
          <a:prstGeom prst="rect">
            <a:avLst/>
          </a:prstGeom>
          <a:solidFill>
            <a:srgbClr val="E53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105613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1700" b="1">
                <a:solidFill>
                  <a:srgbClr val="E5322D"/>
                </a:solidFill>
                <a:latin typeface="Noto Sans"/>
              </a:rPr>
              <a:t>1.  </a:t>
            </a:r>
            <a:r>
              <a:rPr sz="1650">
                <a:solidFill>
                  <a:srgbClr val="0B2A44"/>
                </a:solidFill>
                <a:latin typeface="Noto Sans"/>
              </a:rPr>
              <a:t>Pantau Rawit Merah (paling mahal, rata-rata 2026 Rp75.219/kg) dan Keriting (paling volatile, CV 21.7%).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1700" b="1">
                <a:solidFill>
                  <a:srgbClr val="E5322D"/>
                </a:solidFill>
                <a:latin typeface="Noto Sans"/>
              </a:rPr>
              <a:t>2.  </a:t>
            </a:r>
            <a:r>
              <a:rPr sz="1650">
                <a:solidFill>
                  <a:srgbClr val="0B2A44"/>
                </a:solidFill>
                <a:latin typeface="Noto Sans"/>
              </a:rPr>
              <a:t>Siapkan skenario lonjakan: lonjakan harian terbesar +20.4% (Cabai Merah Keriting, 2026-05-25) menunjukkan harga bisa melonjak dalam sehari.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1700" b="1">
                <a:solidFill>
                  <a:srgbClr val="E5322D"/>
                </a:solidFill>
                <a:latin typeface="Noto Sans"/>
              </a:rPr>
              <a:t>3.  </a:t>
            </a:r>
            <a:r>
              <a:rPr sz="1650">
                <a:solidFill>
                  <a:srgbClr val="0B2A44"/>
                </a:solidFill>
                <a:latin typeface="Noto Sans"/>
              </a:rPr>
              <a:t>Fokus ke provinsi timur: disparitas harga antar provinsi mencapai puluhan persen - distribusi dan logistik adalah bagian dari masalah.</a:t>
            </a:r>
          </a:p>
          <a:p>
            <a:pPr>
              <a:lnSpc>
                <a:spcPct val="115000"/>
              </a:lnSpc>
              <a:spcAft>
                <a:spcPts val="2000"/>
              </a:spcAft>
            </a:pPr>
            <a:r>
              <a:rPr sz="1700" b="1">
                <a:solidFill>
                  <a:srgbClr val="E5322D"/>
                </a:solidFill>
                <a:latin typeface="Noto Sans"/>
              </a:rPr>
              <a:t>4.  </a:t>
            </a:r>
            <a:r>
              <a:rPr sz="1650">
                <a:solidFill>
                  <a:srgbClr val="0B2A44"/>
                </a:solidFill>
                <a:latin typeface="Noto Sans"/>
              </a:rPr>
              <a:t>Gunakan dashboard Power BI untuk pemantauan harian: MA 7 hari dan MoM % memberi sinyal lebih awal daripada harga harian mentah.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645920" cy="64008"/>
          </a:xfrm>
          <a:prstGeom prst="rect">
            <a:avLst/>
          </a:prstGeom>
          <a:solidFill>
            <a:srgbClr val="F5C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Liberation Serif"/>
              </a:rPr>
              <a:t>Terima kasih.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 i="0">
                <a:solidFill>
                  <a:srgbClr val="F7F4EE"/>
                </a:solidFill>
                <a:latin typeface="Noto Sans"/>
              </a:rPr>
              <a:t>Deck ini terbuka untuk didiskusikan. Semua angka di deck ini dihitung dari data harian API PIHPS / Bank Indonesia - dapat direproduksi dengan menjalankan scripts/fetch_pihps.py lalu scripts/analyze.py.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3300" b="1" i="0">
                <a:solidFill>
                  <a:srgbClr val="F5C542"/>
                </a:solidFill>
                <a:latin typeface="Liberation Serif"/>
              </a:rPr>
              <a:t>BAGHIZ ASSHIDDIQIE ARASYA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Noto Sans"/>
              </a:rPr>
              <a:t>github.com/baghizash/harga-cabai-indonesia-2026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5780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150" b="0" i="0">
                <a:solidFill>
                  <a:srgbClr val="F7F4EE"/>
                </a:solidFill>
                <a:latin typeface="Noto Sans"/>
              </a:rPr>
              <a:t>Struktur proyek: analysis.ipynb, data/raw, sql/queries.sql, scripts, charts, powerbi/ (kit dashboard), findings.json.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150" b="0" i="0">
                <a:solidFill>
                  <a:srgbClr val="F7F4EE"/>
                </a:solidFill>
                <a:latin typeface="Noto Sans"/>
              </a:rPr>
              <a:t>Keterbatasan: PIHPS melaporkan pada hari kerja pasar (bukan setiap hari kalender); beberapa kombinasi provinsi x komoditas tidak dipublikasikan dan dicatat sebagai gap.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